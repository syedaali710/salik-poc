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</c:v>
                </c:pt>
              </c:strCache>
            </c:strRef>
          </c:tx>
          <c:spPr>
            <a:solidFill>
              <a:srgbClr val="C0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1628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45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45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A7C62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G3 Global</c:v>
                  </c:pt>
                  <c:pt idx="1">
                    <c:v>UFIC</c:v>
                  </c:pt>
                  <c:pt idx="2">
                    <c:v>LT Foods</c:v>
                  </c:pt>
                  <c:pt idx="3">
                    <c:v>Merredin</c:v>
                  </c:pt>
                  <c:pt idx="4">
                    <c:v>MHP</c:v>
                  </c:pt>
                  <c:pt idx="5">
                    <c:v>SABIL</c:v>
                  </c:pt>
                  <c:pt idx="6">
                    <c:v>Minerva</c:v>
                  </c:pt>
                  <c:pt idx="7">
                    <c:v>BRF</c:v>
                  </c:pt>
                  <c:pt idx="8">
                    <c:v>CFG</c:v>
                  </c:pt>
                  <c:pt idx="9">
                    <c:v>Olam Agri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-50.3</c:v>
                </c:pt>
                <c:pt idx="1">
                  <c:v>-30.7</c:v>
                </c:pt>
                <c:pt idx="2">
                  <c:v>1.4</c:v>
                </c:pt>
                <c:pt idx="3">
                  <c:v>37.6</c:v>
                </c:pt>
                <c:pt idx="4">
                  <c:v>83.3</c:v>
                </c:pt>
                <c:pt idx="5">
                  <c:v>108.9</c:v>
                </c:pt>
                <c:pt idx="6">
                  <c:v>132.4</c:v>
                </c:pt>
                <c:pt idx="7">
                  <c:v>256.8</c:v>
                </c:pt>
                <c:pt idx="8">
                  <c:v>313</c:v>
                </c:pt>
                <c:pt idx="9">
                  <c:v>334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1628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628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-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/>
        </p:spPr>
      </p:sp>
      <p:pic>
        <p:nvPicPr>
          <p:cNvPr id="3" name="Image 0" descr="salic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4884"/>
            <a:ext cx="1018725" cy="393192"/>
          </a:xfrm>
          <a:prstGeom prst="rect">
            <a:avLst/>
          </a:prstGeom>
        </p:spPr>
      </p:pic>
      <p:pic>
        <p:nvPicPr>
          <p:cNvPr id="4" name="Image 1" descr="pif_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367" y="256032"/>
            <a:ext cx="951478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09848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6A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 ·  BOARD OF DIRECTORS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Financial Performance — Executive Summary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results, year-to-date September 2025 · Actual vs Budget vs Prior Year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65760" y="6528816"/>
            <a:ext cx="11460175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— Board Financial Performance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267048" y="6565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September 2025  ·  SAR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997135" y="6565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4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55648"/>
            <a:ext cx="26730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0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12064" y="1856232"/>
            <a:ext cx="23987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2039112"/>
            <a:ext cx="23987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2.40 b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512064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▲+2.5%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12064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2.34 b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720558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▲+77.1%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720558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 b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294812" y="1755648"/>
            <a:ext cx="26730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0">
                <a:alpha val="2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441116" y="1856232"/>
            <a:ext cx="23987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431972" y="2039112"/>
            <a:ext cx="23987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687 m</a:t>
            </a:r>
            <a:endParaRPr lang="en-US" sz="2500" dirty="0"/>
          </a:p>
        </p:txBody>
      </p:sp>
      <p:sp>
        <p:nvSpPr>
          <p:cNvPr id="22" name="Text 18"/>
          <p:cNvSpPr/>
          <p:nvPr/>
        </p:nvSpPr>
        <p:spPr>
          <a:xfrm>
            <a:off x="3441116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▲+183.1%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441116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m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649610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▲+47.0%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649610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 m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223864" y="1755648"/>
            <a:ext cx="26730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0">
                <a:alpha val="28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370168" y="1856232"/>
            <a:ext cx="23987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361024" y="2039112"/>
            <a:ext cx="23987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1.34 b</a:t>
            </a:r>
            <a:endParaRPr lang="en-US" sz="2500" dirty="0"/>
          </a:p>
        </p:txBody>
      </p:sp>
      <p:sp>
        <p:nvSpPr>
          <p:cNvPr id="29" name="Text 25"/>
          <p:cNvSpPr/>
          <p:nvPr/>
        </p:nvSpPr>
        <p:spPr>
          <a:xfrm>
            <a:off x="6370168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▲+145.0%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370168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547 m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7578661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▲+55.6%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7578661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861 m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9152915" y="1755648"/>
            <a:ext cx="26730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0C0">
                <a:alpha val="28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9299219" y="1856232"/>
            <a:ext cx="23987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9290075" y="2039112"/>
            <a:ext cx="23987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 b</a:t>
            </a:r>
            <a:endParaRPr lang="en-US" sz="2500" dirty="0"/>
          </a:p>
        </p:txBody>
      </p:sp>
      <p:sp>
        <p:nvSpPr>
          <p:cNvPr id="36" name="Text 32"/>
          <p:cNvSpPr/>
          <p:nvPr/>
        </p:nvSpPr>
        <p:spPr>
          <a:xfrm>
            <a:off x="9299219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Budget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▲+172.4%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9299219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 m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0507713" y="254203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 </a:t>
            </a:r>
            <a:pPr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▲+71.1%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10507713" y="2724912"/>
            <a:ext cx="124507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 </a:t>
            </a:r>
            <a:pPr indent="0" marL="0">
              <a:buNone/>
            </a:pPr>
            <a:r>
              <a:rPr lang="en-US" sz="8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m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65760" y="32735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one view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365760" y="3566160"/>
            <a:ext cx="59436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of SAR 1.04 b is up 71% YoY and 172% above budget — a headline beat led by international associates and non-recurring gains, not core margin.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of SAR 2.40 b is broadly on plan (+2.6%); the jump in gross profit to SAR 687 m (+182% vs budget) is largely IAS-41 biological-asset fair-value uplift in Ukraine, not cash margin.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delivered strongly — Olam Agri SAR 334 m and Minerva SAR 132 m — and a one-time BRF dividend of ~SAR 257 m lifted other income.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finance cost of ~SAR 159 m ran ~SAR 111 m above budget on higher Islamic borrowing charges — the principal adverse variance for escalation.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for ~SAR 792 m of non-recurring / non-cash items, the recurring earnings engine is ~SAR 251 m — the anchor for run-rate expectations.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6537960" y="3273552"/>
            <a:ext cx="5285232" cy="3054096"/>
          </a:xfrm>
          <a:prstGeom prst="roundRect">
            <a:avLst>
              <a:gd name="adj" fmla="val 1796"/>
            </a:avLst>
          </a:prstGeom>
          <a:solidFill>
            <a:srgbClr val="F2F6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757416" y="34198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of earnings — reported vs recurring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6995160" y="3986784"/>
            <a:ext cx="1874520" cy="1078992"/>
          </a:xfrm>
          <a:prstGeom prst="roundRect">
            <a:avLst>
              <a:gd name="adj" fmla="val 4237"/>
            </a:avLst>
          </a:prstGeom>
          <a:solidFill>
            <a:srgbClr val="08305C"/>
          </a:solidFill>
          <a:ln/>
        </p:spPr>
      </p:sp>
      <p:sp>
        <p:nvSpPr>
          <p:cNvPr id="45" name="Text 41"/>
          <p:cNvSpPr/>
          <p:nvPr/>
        </p:nvSpPr>
        <p:spPr>
          <a:xfrm>
            <a:off x="6995160" y="4114800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D6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PAT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6995160" y="4389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1.04 b</a:t>
            </a:r>
            <a:endParaRPr lang="en-US" sz="2600" dirty="0"/>
          </a:p>
        </p:txBody>
      </p:sp>
      <p:sp>
        <p:nvSpPr>
          <p:cNvPr id="47" name="Text 43"/>
          <p:cNvSpPr/>
          <p:nvPr/>
        </p:nvSpPr>
        <p:spPr>
          <a:xfrm>
            <a:off x="8860536" y="42428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48" name="Shape 44"/>
          <p:cNvSpPr/>
          <p:nvPr/>
        </p:nvSpPr>
        <p:spPr>
          <a:xfrm>
            <a:off x="9491472" y="3986784"/>
            <a:ext cx="1874520" cy="1078992"/>
          </a:xfrm>
          <a:prstGeom prst="roundRect">
            <a:avLst>
              <a:gd name="adj" fmla="val 4237"/>
            </a:avLst>
          </a:prstGeom>
          <a:solidFill>
            <a:srgbClr val="E6AF00"/>
          </a:solidFill>
          <a:ln/>
        </p:spPr>
      </p:sp>
      <p:sp>
        <p:nvSpPr>
          <p:cNvPr id="49" name="Text 45"/>
          <p:cNvSpPr/>
          <p:nvPr/>
        </p:nvSpPr>
        <p:spPr>
          <a:xfrm>
            <a:off x="9491472" y="4114800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engine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9491472" y="4389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~251 m</a:t>
            </a:r>
            <a:endParaRPr lang="en-US" sz="2600" dirty="0"/>
          </a:p>
        </p:txBody>
      </p:sp>
      <p:sp>
        <p:nvSpPr>
          <p:cNvPr id="51" name="Text 47"/>
          <p:cNvSpPr/>
          <p:nvPr/>
        </p:nvSpPr>
        <p:spPr>
          <a:xfrm>
            <a:off x="6757416" y="5266944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~SAR 792 m of non-recurring / non-cash items: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IAS-41 bio-asset fair value ~410 m · BRF one-time dividend ~257 m · FVTPL mark-to-market ~83 m · other one-offs ~42 m.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/>
        </p:spPr>
      </p:sp>
      <p:pic>
        <p:nvPicPr>
          <p:cNvPr id="3" name="Image 0" descr="salic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4884"/>
            <a:ext cx="1018725" cy="393192"/>
          </a:xfrm>
          <a:prstGeom prst="rect">
            <a:avLst/>
          </a:prstGeom>
        </p:spPr>
      </p:pic>
      <p:pic>
        <p:nvPicPr>
          <p:cNvPr id="4" name="Image 1" descr="pif_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367" y="256032"/>
            <a:ext cx="951478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09848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6A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 ·  BOARD OF DIRECTORS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Income Statement &amp; Variance Bridges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group moved from budget to reported result — and from reported to recurring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65760" y="6528816"/>
            <a:ext cx="11460175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— Board Financial Performance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267048" y="6565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September 2025  ·  SAR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997135" y="6565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4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58064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60120"/>
                <a:gridCol w="914400"/>
                <a:gridCol w="640080"/>
                <a:gridCol w="77724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SAR '000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Actual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Budget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Var %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PY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2,401,390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2,341,722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+3%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1,355,708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Cost of revenue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(1,714,392)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(2,098,989)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A7C62"/>
                          </a:solidFill>
                        </a:rPr>
                        <a:t>+18%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(888,283)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Gross profit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686,998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242,733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+183%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467,426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General &amp; administrative expenses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(388,799)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(489,633)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A7C62"/>
                          </a:solidFill>
                        </a:rPr>
                        <a:t>+21%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(294,101)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Selling &amp; distribution expenses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(26,323)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(27,968)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A7C62"/>
                          </a:solidFill>
                        </a:rPr>
                        <a:t>+6%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(25,516)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Other income / (expenses), net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309,357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205,011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A7C62"/>
                          </a:solidFill>
                        </a:rPr>
                        <a:t>+51%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302,495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Share of results of associates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636,113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547,430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A7C62"/>
                          </a:solidFill>
                        </a:rPr>
                        <a:t>+16%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396,194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Share of results of joint ventures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(68,887)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(40,530)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0453B"/>
                          </a:solidFill>
                        </a:rPr>
                        <a:t>−70%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(80,056)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Net gain on financial assets (FVTPL)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83,278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Operating income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1,231,737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436,473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+182%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466,346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Finance income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10,908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50,610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0453B"/>
                          </a:solidFill>
                        </a:rPr>
                        <a:t>−78%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10,044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Finance charge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(169,915)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(98,834)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0453B"/>
                          </a:solidFill>
                        </a:rPr>
                        <a:t>−72%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(163,132)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Profit before taxation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1,072,730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388,249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+176%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313,258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Taxation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(26,095)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(5,841)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0453B"/>
                          </a:solidFill>
                        </a:rPr>
                        <a:t>−347%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(3,775)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Profit for the period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6283C"/>
                          </a:solidFill>
                        </a:rPr>
                        <a:t>1,046,635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382,978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+173%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B6B7B"/>
                          </a:solidFill>
                        </a:rPr>
                        <a:t>609,579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365760" y="5266944"/>
            <a:ext cx="5806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Gross-profit beat is concentrated in Ukraine (IAS-41) and SABIL; net finance cost and JV losses are the drags.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400800" y="2057400"/>
            <a:ext cx="5422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Gross-profit bridge vs budget  (SAR m)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590584" y="3297600"/>
            <a:ext cx="524165" cy="451440"/>
          </a:xfrm>
          <a:prstGeom prst="rect">
            <a:avLst/>
          </a:prstGeom>
          <a:solidFill>
            <a:srgbClr val="0B4D89"/>
          </a:solidFill>
          <a:ln/>
        </p:spPr>
      </p:sp>
      <p:sp>
        <p:nvSpPr>
          <p:cNvPr id="16" name="Text 11"/>
          <p:cNvSpPr/>
          <p:nvPr/>
        </p:nvSpPr>
        <p:spPr>
          <a:xfrm>
            <a:off x="6166866" y="307814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419088" y="379476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7114748" y="3297600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7494316" y="2717815"/>
            <a:ext cx="524165" cy="579785"/>
          </a:xfrm>
          <a:prstGeom prst="rect">
            <a:avLst/>
          </a:prstGeom>
          <a:solidFill>
            <a:srgbClr val="2A7C62"/>
          </a:solidFill>
          <a:ln/>
        </p:spPr>
      </p:sp>
      <p:sp>
        <p:nvSpPr>
          <p:cNvPr id="20" name="Text 15"/>
          <p:cNvSpPr/>
          <p:nvPr/>
        </p:nvSpPr>
        <p:spPr>
          <a:xfrm>
            <a:off x="7070598" y="2498359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A7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+312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7322820" y="379476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8018480" y="2717815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8398048" y="2460567"/>
            <a:ext cx="524165" cy="257248"/>
          </a:xfrm>
          <a:prstGeom prst="rect">
            <a:avLst/>
          </a:prstGeom>
          <a:solidFill>
            <a:srgbClr val="2A7C62"/>
          </a:solidFill>
          <a:ln/>
        </p:spPr>
      </p:sp>
      <p:sp>
        <p:nvSpPr>
          <p:cNvPr id="24" name="Text 19"/>
          <p:cNvSpPr/>
          <p:nvPr/>
        </p:nvSpPr>
        <p:spPr>
          <a:xfrm>
            <a:off x="7974330" y="247885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+138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226552" y="379476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SABIL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8922212" y="2460567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27" name="Shape 22"/>
          <p:cNvSpPr/>
          <p:nvPr/>
        </p:nvSpPr>
        <p:spPr>
          <a:xfrm>
            <a:off x="9301780" y="2460567"/>
            <a:ext cx="524165" cy="18288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28" name="Text 23"/>
          <p:cNvSpPr/>
          <p:nvPr/>
        </p:nvSpPr>
        <p:spPr>
          <a:xfrm>
            <a:off x="8878062" y="247885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9130284" y="379476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UFIC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9825944" y="2466520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31" name="Shape 26"/>
          <p:cNvSpPr/>
          <p:nvPr/>
        </p:nvSpPr>
        <p:spPr>
          <a:xfrm>
            <a:off x="10205512" y="2466520"/>
            <a:ext cx="524165" cy="18288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32" name="Text 27"/>
          <p:cNvSpPr/>
          <p:nvPr/>
        </p:nvSpPr>
        <p:spPr>
          <a:xfrm>
            <a:off x="9781794" y="24848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10034016" y="379476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10729676" y="2475262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35" name="Shape 30"/>
          <p:cNvSpPr/>
          <p:nvPr/>
        </p:nvSpPr>
        <p:spPr>
          <a:xfrm>
            <a:off x="11109244" y="2471170"/>
            <a:ext cx="524165" cy="1277870"/>
          </a:xfrm>
          <a:prstGeom prst="rect">
            <a:avLst/>
          </a:prstGeom>
          <a:solidFill>
            <a:srgbClr val="0B4D89"/>
          </a:solidFill>
          <a:ln/>
        </p:spPr>
      </p:sp>
      <p:sp>
        <p:nvSpPr>
          <p:cNvPr id="36" name="Text 31"/>
          <p:cNvSpPr/>
          <p:nvPr/>
        </p:nvSpPr>
        <p:spPr>
          <a:xfrm>
            <a:off x="10685526" y="248945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687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0937748" y="379476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6400800" y="3749040"/>
            <a:ext cx="5422392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400800" y="4434840"/>
            <a:ext cx="5422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income: reported → recurring  (SAR m)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590584" y="4838007"/>
            <a:ext cx="524165" cy="1288473"/>
          </a:xfrm>
          <a:prstGeom prst="rect">
            <a:avLst/>
          </a:prstGeom>
          <a:solidFill>
            <a:srgbClr val="0B4D89"/>
          </a:solidFill>
          <a:ln/>
        </p:spPr>
      </p:sp>
      <p:sp>
        <p:nvSpPr>
          <p:cNvPr id="41" name="Text 36"/>
          <p:cNvSpPr/>
          <p:nvPr/>
        </p:nvSpPr>
        <p:spPr>
          <a:xfrm>
            <a:off x="6166866" y="485629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1,043</a:t>
            </a:r>
            <a:endParaRPr lang="en-US" sz="850" dirty="0"/>
          </a:p>
        </p:txBody>
      </p:sp>
      <p:sp>
        <p:nvSpPr>
          <p:cNvPr id="42" name="Text 37"/>
          <p:cNvSpPr/>
          <p:nvPr/>
        </p:nvSpPr>
        <p:spPr>
          <a:xfrm>
            <a:off x="6419088" y="617220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800" dirty="0"/>
          </a:p>
        </p:txBody>
      </p:sp>
      <p:sp>
        <p:nvSpPr>
          <p:cNvPr id="43" name="Shape 38"/>
          <p:cNvSpPr/>
          <p:nvPr/>
        </p:nvSpPr>
        <p:spPr>
          <a:xfrm>
            <a:off x="7114748" y="4838007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44" name="Shape 39"/>
          <p:cNvSpPr/>
          <p:nvPr/>
        </p:nvSpPr>
        <p:spPr>
          <a:xfrm>
            <a:off x="7494316" y="4838007"/>
            <a:ext cx="524165" cy="506349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45" name="Text 40"/>
          <p:cNvSpPr/>
          <p:nvPr/>
        </p:nvSpPr>
        <p:spPr>
          <a:xfrm>
            <a:off x="7070598" y="485629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−410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7322820" y="617220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Bio-asset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 gain</a:t>
            </a:r>
            <a:endParaRPr lang="en-US" sz="800" dirty="0"/>
          </a:p>
        </p:txBody>
      </p:sp>
      <p:sp>
        <p:nvSpPr>
          <p:cNvPr id="47" name="Shape 42"/>
          <p:cNvSpPr/>
          <p:nvPr/>
        </p:nvSpPr>
        <p:spPr>
          <a:xfrm>
            <a:off x="8018480" y="5344356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48" name="Shape 43"/>
          <p:cNvSpPr/>
          <p:nvPr/>
        </p:nvSpPr>
        <p:spPr>
          <a:xfrm>
            <a:off x="8398048" y="5344356"/>
            <a:ext cx="524165" cy="317394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49" name="Text 44"/>
          <p:cNvSpPr/>
          <p:nvPr/>
        </p:nvSpPr>
        <p:spPr>
          <a:xfrm>
            <a:off x="7974330" y="51249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−257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226552" y="617220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BRF one-off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</a:t>
            </a:r>
            <a:endParaRPr lang="en-US" sz="800" dirty="0"/>
          </a:p>
        </p:txBody>
      </p:sp>
      <p:sp>
        <p:nvSpPr>
          <p:cNvPr id="51" name="Shape 46"/>
          <p:cNvSpPr/>
          <p:nvPr/>
        </p:nvSpPr>
        <p:spPr>
          <a:xfrm>
            <a:off x="8922212" y="5661751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52" name="Shape 47"/>
          <p:cNvSpPr/>
          <p:nvPr/>
        </p:nvSpPr>
        <p:spPr>
          <a:xfrm>
            <a:off x="9301780" y="5661751"/>
            <a:ext cx="524165" cy="102505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53" name="Text 48"/>
          <p:cNvSpPr/>
          <p:nvPr/>
        </p:nvSpPr>
        <p:spPr>
          <a:xfrm>
            <a:off x="8878062" y="5442295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−83</a:t>
            </a:r>
            <a:endParaRPr lang="en-US" sz="850" dirty="0"/>
          </a:p>
        </p:txBody>
      </p:sp>
      <p:sp>
        <p:nvSpPr>
          <p:cNvPr id="54" name="Text 49"/>
          <p:cNvSpPr/>
          <p:nvPr/>
        </p:nvSpPr>
        <p:spPr>
          <a:xfrm>
            <a:off x="9130284" y="617220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FVTPL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mark-to-mkt</a:t>
            </a:r>
            <a:endParaRPr lang="en-US" sz="800" dirty="0"/>
          </a:p>
        </p:txBody>
      </p:sp>
      <p:sp>
        <p:nvSpPr>
          <p:cNvPr id="55" name="Shape 50"/>
          <p:cNvSpPr/>
          <p:nvPr/>
        </p:nvSpPr>
        <p:spPr>
          <a:xfrm>
            <a:off x="9825944" y="5764255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56" name="Shape 51"/>
          <p:cNvSpPr/>
          <p:nvPr/>
        </p:nvSpPr>
        <p:spPr>
          <a:xfrm>
            <a:off x="10205512" y="5764255"/>
            <a:ext cx="524165" cy="51870"/>
          </a:xfrm>
          <a:prstGeom prst="rect">
            <a:avLst/>
          </a:prstGeom>
          <a:solidFill>
            <a:srgbClr val="C0453B"/>
          </a:solidFill>
          <a:ln/>
        </p:spPr>
      </p:sp>
      <p:sp>
        <p:nvSpPr>
          <p:cNvPr id="57" name="Text 52"/>
          <p:cNvSpPr/>
          <p:nvPr/>
        </p:nvSpPr>
        <p:spPr>
          <a:xfrm>
            <a:off x="9781794" y="5544799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</a:t>
            </a:r>
            <a:endParaRPr lang="en-US" sz="850" dirty="0"/>
          </a:p>
        </p:txBody>
      </p:sp>
      <p:sp>
        <p:nvSpPr>
          <p:cNvPr id="58" name="Text 53"/>
          <p:cNvSpPr/>
          <p:nvPr/>
        </p:nvSpPr>
        <p:spPr>
          <a:xfrm>
            <a:off x="10034016" y="617220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one-offs</a:t>
            </a:r>
            <a:endParaRPr lang="en-US" sz="800" dirty="0"/>
          </a:p>
        </p:txBody>
      </p:sp>
      <p:sp>
        <p:nvSpPr>
          <p:cNvPr id="59" name="Shape 54"/>
          <p:cNvSpPr/>
          <p:nvPr/>
        </p:nvSpPr>
        <p:spPr>
          <a:xfrm>
            <a:off x="10729676" y="5816125"/>
            <a:ext cx="379567" cy="0"/>
          </a:xfrm>
          <a:prstGeom prst="line">
            <a:avLst/>
          </a:prstGeom>
          <a:noFill/>
          <a:ln w="9525">
            <a:solidFill>
              <a:srgbClr val="5B6B7B"/>
            </a:solidFill>
            <a:prstDash val="dash"/>
          </a:ln>
        </p:spPr>
      </p:sp>
      <p:sp>
        <p:nvSpPr>
          <p:cNvPr id="60" name="Shape 55"/>
          <p:cNvSpPr/>
          <p:nvPr/>
        </p:nvSpPr>
        <p:spPr>
          <a:xfrm>
            <a:off x="11109244" y="5816496"/>
            <a:ext cx="524165" cy="309984"/>
          </a:xfrm>
          <a:prstGeom prst="rect">
            <a:avLst/>
          </a:prstGeom>
          <a:solidFill>
            <a:srgbClr val="E6AF00"/>
          </a:solidFill>
          <a:ln/>
        </p:spPr>
      </p:sp>
      <p:sp>
        <p:nvSpPr>
          <p:cNvPr id="61" name="Text 56"/>
          <p:cNvSpPr/>
          <p:nvPr/>
        </p:nvSpPr>
        <p:spPr>
          <a:xfrm>
            <a:off x="10685526" y="559704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</a:t>
            </a:r>
            <a:endParaRPr lang="en-US" sz="850" dirty="0"/>
          </a:p>
        </p:txBody>
      </p:sp>
      <p:sp>
        <p:nvSpPr>
          <p:cNvPr id="62" name="Text 57"/>
          <p:cNvSpPr/>
          <p:nvPr/>
        </p:nvSpPr>
        <p:spPr>
          <a:xfrm>
            <a:off x="10937748" y="6172200"/>
            <a:ext cx="8671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8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6400800" y="6126480"/>
            <a:ext cx="5422392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/>
        </p:spPr>
      </p:sp>
      <p:pic>
        <p:nvPicPr>
          <p:cNvPr id="3" name="Image 0" descr="salic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4884"/>
            <a:ext cx="1018725" cy="393192"/>
          </a:xfrm>
          <a:prstGeom prst="rect">
            <a:avLst/>
          </a:prstGeom>
        </p:spPr>
      </p:pic>
      <p:pic>
        <p:nvPicPr>
          <p:cNvPr id="4" name="Image 1" descr="pif_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367" y="256032"/>
            <a:ext cx="951478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09848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6A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 ·  BOARD OF DIRECTORS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Company Contribution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result comes from — enforcing consolidation discipline across subsidiaries, associates and holdings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65760" y="6528816"/>
            <a:ext cx="11460175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— Board Financial Performance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267048" y="6565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September 2025  ·  SAR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997135" y="6565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4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653796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960120"/>
                <a:gridCol w="960120"/>
                <a:gridCol w="960120"/>
                <a:gridCol w="960120"/>
              </a:tblGrid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Portfolio company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Basis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Gross profit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NI contrib.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CFG / SALIC Ukraine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Subsidiary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1460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479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+313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SABIL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Subsidiary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489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203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+109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UFIC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Subsidiary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453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0453B"/>
                          </a:solidFill>
                        </a:rPr>
                        <a:t>−31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Merredin / Australia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Subsidiary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-5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+38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Olam Agri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Assoc./JV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+334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Minerva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Assoc./JV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+132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G3 Global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Assoc./JV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0453B"/>
                          </a:solidFill>
                        </a:rPr>
                        <a:t>−50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BRF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FV holding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+257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MHP / others (FVTPL)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FV holding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+83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LT Foods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FV holding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A7C62"/>
                          </a:solidFill>
                        </a:rPr>
                        <a:t>+1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Almarai / NADEC / NAQUA / NGC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5B6B7B"/>
                          </a:solidFill>
                        </a:rPr>
                        <a:t>Assoc./JV</a:t>
                      </a:r>
                      <a:endParaRPr lang="en-US" sz="8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C0453B"/>
                          </a:solidFill>
                        </a:rPr>
                        <a:t>−0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4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6283C"/>
                          </a:solidFill>
                        </a:rPr>
                        <a:t>Consolidated group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6283C"/>
                          </a:solidFill>
                        </a:rPr>
                        <a:t>2,401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6283C"/>
                          </a:solidFill>
                        </a:rPr>
                        <a:t>687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8305C"/>
                          </a:solidFill>
                        </a:rPr>
                        <a:t>1,043</a:t>
                      </a:r>
                      <a:endParaRPr lang="en-US" sz="95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6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365760" y="5362042"/>
            <a:ext cx="6537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gross profit are recognised only from fully-consolidated subsidiaries (SAR m).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7086600" y="1755648"/>
            <a:ext cx="4736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income contribution  (SAR m)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086600" y="2029968"/>
          <a:ext cx="4736592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Shape 10"/>
          <p:cNvSpPr/>
          <p:nvPr/>
        </p:nvSpPr>
        <p:spPr>
          <a:xfrm>
            <a:off x="365760" y="5779008"/>
            <a:ext cx="11460175" cy="676656"/>
          </a:xfrm>
          <a:prstGeom prst="roundRect">
            <a:avLst>
              <a:gd name="adj" fmla="val 6757"/>
            </a:avLst>
          </a:prstGeom>
          <a:solidFill>
            <a:srgbClr val="08305C"/>
          </a:solidFill>
          <a:ln/>
        </p:spPr>
      </p:sp>
      <p:sp>
        <p:nvSpPr>
          <p:cNvPr id="17" name="Text 11"/>
          <p:cNvSpPr/>
          <p:nvPr/>
        </p:nvSpPr>
        <p:spPr>
          <a:xfrm>
            <a:off x="566928" y="5824728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E6A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discipline:  </a:t>
            </a:r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Subsidiaries (Ukraine, SABIL, UFIC, Australia) contribute revenue, gross profit and net income line-by-line · Associates &amp; JVs (Olam, Minerva, G3, NADEC, NAQUA, NGC) contribute share of net result only · Fair-value holdings (BRF, MHP, LT Foods) contribute mark-to-market movements and dividends only.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8305C"/>
          </a:solidFill>
          <a:ln/>
        </p:spPr>
      </p:sp>
      <p:pic>
        <p:nvPicPr>
          <p:cNvPr id="3" name="Image 0" descr="salic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4884"/>
            <a:ext cx="1018725" cy="393192"/>
          </a:xfrm>
          <a:prstGeom prst="rect">
            <a:avLst/>
          </a:prstGeom>
        </p:spPr>
      </p:pic>
      <p:pic>
        <p:nvPicPr>
          <p:cNvPr id="4" name="Image 1" descr="pif_logo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0367" y="256032"/>
            <a:ext cx="951478" cy="3108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09848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E6A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 ·  BOARD OF DIRECTORS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6576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Drivers, Risks &amp; Matters for the Board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365760" y="1371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wins, three watch-points, and the decisions requested of the Board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365760" y="6528816"/>
            <a:ext cx="11460175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656539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SALIC Group — Board Financial Performance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267048" y="6565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Year-to-Date September 2025  ·  SAR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997135" y="6565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4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83080"/>
            <a:ext cx="5547208" cy="2395728"/>
          </a:xfrm>
          <a:prstGeom prst="roundRect">
            <a:avLst>
              <a:gd name="adj" fmla="val 2290"/>
            </a:avLst>
          </a:prstGeom>
          <a:solidFill>
            <a:srgbClr val="E4F2E6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1892808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▲  Five wins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2258568"/>
            <a:ext cx="5181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SAR 1.04 b — +71% YoY, +172% vs budget.</a:t>
            </a:r>
            <a:endParaRPr lang="en-US" sz="9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outperforming: Olam SAR 334 m, Minerva SAR 132 m; share of associates +16% vs budget.</a:t>
            </a:r>
            <a:endParaRPr lang="en-US" sz="9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(CFG) is the operating engine — SAR 1.46 b revenue (61% of group) and SAR 313 m net income.</a:t>
            </a:r>
            <a:endParaRPr lang="en-US" sz="9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SABIL profitable in first full year — SAR 109 m NI on SAR 489 m revenue; GP SAR 138 m ahead of plan.</a:t>
            </a:r>
            <a:endParaRPr lang="en-US" sz="9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FVTPL portfolio (BRF/MHP) added SAR 83 m of unrealised upside against a zero budget.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6278728" y="1783080"/>
            <a:ext cx="5547208" cy="2395728"/>
          </a:xfrm>
          <a:prstGeom prst="roundRect">
            <a:avLst>
              <a:gd name="adj" fmla="val 2290"/>
            </a:avLst>
          </a:prstGeom>
          <a:solidFill>
            <a:srgbClr val="FBEDEC"/>
          </a:solidFill>
          <a:ln/>
        </p:spPr>
      </p:sp>
      <p:sp>
        <p:nvSpPr>
          <p:cNvPr id="16" name="Text 12"/>
          <p:cNvSpPr/>
          <p:nvPr/>
        </p:nvSpPr>
        <p:spPr>
          <a:xfrm>
            <a:off x="6461608" y="1892808"/>
            <a:ext cx="518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▼  Three watch-points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61608" y="2258568"/>
            <a:ext cx="5181448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quality: ~76% of reported PAT is non-recurring / non-cash (IAS-41 FV, BRF one-off, FVTPL). Recurring engine ~SAR 251 m.</a:t>
            </a:r>
            <a:endParaRPr lang="en-US" sz="9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finance cost ~SAR 159 m, ~SAR 111 m above budget on Islamic borrowing charges — rising and the top adverse variance.</a:t>
            </a:r>
            <a:endParaRPr lang="en-US" sz="96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6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Loss-makers: UFIC −SAR 31 m (thin trading margin after finance cost) and G3 −SAR 50 m (share of associate loss).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365760" y="4315968"/>
            <a:ext cx="11460175" cy="658368"/>
          </a:xfrm>
          <a:prstGeom prst="roundRect">
            <a:avLst>
              <a:gd name="adj" fmla="val 6944"/>
            </a:avLst>
          </a:prstGeom>
          <a:solidFill>
            <a:srgbClr val="F2F6FA"/>
          </a:solidFill>
          <a:ln w="12700">
            <a:solidFill>
              <a:srgbClr val="C0453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6928" y="4361688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b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— finance cost:  </a:t>
            </a:r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16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finance charge ~SAR 170 m vs YTD budget ~SAR 99 m (+72%); finance income SAR 11 m vs SAR 51 m budgeted. Net finance cost ~SAR 159 m is ~SAR 111 m worse than plan, concentrated in SALIC KSA Islamic borrowings — recommend a treasury review of tenor, hedging and facility pricing.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65760" y="51389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30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Matters for the Board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5431536"/>
          <a:ext cx="1146017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519672"/>
                <a:gridCol w="201168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05C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Rising net finance cost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Approve treasury review of borrowing tenor, hedging and facility pricing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GCFO / Treasury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Earnings quality / run-rate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Adopt recurring ~SAR 251 m as the run-rate anchor for FY-end guidance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FP&amp;A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A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UFIC &amp; G3 underperformance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Commission a deep-dive on trading margins and a G3 turnaround plan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83C"/>
                          </a:solidFill>
                        </a:rPr>
                        <a:t>Portfolio Mgmt</a:t>
                      </a:r>
                      <a:endParaRPr lang="en-US" sz="9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2026-07-12T17:41:04Z</dcterms:created>
  <dcterms:modified xsi:type="dcterms:W3CDTF">2026-07-12T17:41:04Z</dcterms:modified>
</cp:coreProperties>
</file>