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Reported PAT</c:v>
                </c:pt>
                <c:pt idx="1">
                  <c:v>IAS-41 bio-asset FV</c:v>
                </c:pt>
                <c:pt idx="2">
                  <c:v>BRF one-off dividend</c:v>
                </c:pt>
                <c:pt idx="3">
                  <c:v>FVTPL mark-to-market</c:v>
                </c:pt>
                <c:pt idx="4">
                  <c:v>Acquisition / bargain gain</c:v>
                </c:pt>
                <c:pt idx="5">
                  <c:v>FX &amp; other one-offs</c:v>
                </c:pt>
                <c:pt idx="6">
                  <c:v>Recurring engine</c:v>
                </c:pt>
              </c:strCache>
            </c:strRef>
          </c:cat>
          <c:val>
            <c:numRef>
              <c:f>Sheet1!$B$2:$B$8</c:f>
              <c:numCache>
                <c:formatCode>#,##0;(#,##0)</c:formatCode>
                <c:ptCount val="7"/>
                <c:pt idx="0">
                  <c:v>0.0</c:v>
                </c:pt>
                <c:pt idx="1">
                  <c:v>970.0</c:v>
                </c:pt>
                <c:pt idx="2">
                  <c:v>775.0</c:v>
                </c:pt>
                <c:pt idx="3">
                  <c:v>713.0</c:v>
                </c:pt>
                <c:pt idx="4">
                  <c:v>528.0</c:v>
                </c:pt>
                <c:pt idx="5">
                  <c:v>318.0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4D89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5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Reported PAT</c:v>
                </c:pt>
                <c:pt idx="1">
                  <c:v>IAS-41 bio-asset FV</c:v>
                </c:pt>
                <c:pt idx="2">
                  <c:v>BRF one-off dividend</c:v>
                </c:pt>
                <c:pt idx="3">
                  <c:v>FVTPL mark-to-market</c:v>
                </c:pt>
                <c:pt idx="4">
                  <c:v>Acquisition / bargain gain</c:v>
                </c:pt>
                <c:pt idx="5">
                  <c:v>FX &amp; other one-offs</c:v>
                </c:pt>
                <c:pt idx="6">
                  <c:v>Recurring engine</c:v>
                </c:pt>
              </c:strCache>
            </c:strRef>
          </c:cat>
          <c:val>
            <c:numRef>
              <c:f>Sheet1!$C$2:$C$8</c:f>
              <c:numCache>
                <c:formatCode>#,##0;(#,##0)</c:formatCode>
                <c:ptCount val="7"/>
                <c:pt idx="0">
                  <c:v>1250.0</c:v>
                </c:pt>
                <c:pt idx="6">
                  <c:v>318.0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A7C62"/>
            </a:solidFill>
          </c:spPr>
          <c:dLbls>
            <c:numFmt formatCode="&quot;+&quot;#,##0" sourceLinked="0"/>
            <c:txPr>
              <a:bodyPr/>
              <a:lstStyle/>
              <a:p>
                <a:pPr>
                  <a:defRPr sz="850" b="1">
                    <a:solidFill>
                      <a:srgbClr val="2A7C62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Reported PAT</c:v>
                </c:pt>
                <c:pt idx="1">
                  <c:v>IAS-41 bio-asset FV</c:v>
                </c:pt>
                <c:pt idx="2">
                  <c:v>BRF one-off dividend</c:v>
                </c:pt>
                <c:pt idx="3">
                  <c:v>FVTPL mark-to-market</c:v>
                </c:pt>
                <c:pt idx="4">
                  <c:v>Acquisition / bargain gain</c:v>
                </c:pt>
                <c:pt idx="5">
                  <c:v>FX &amp; other one-offs</c:v>
                </c:pt>
                <c:pt idx="6">
                  <c:v>Recurring engine</c:v>
                </c:pt>
              </c:strCache>
            </c:strRef>
          </c:cat>
          <c:val>
            <c:numRef>
              <c:f>Sheet1!$D$2:$D$8</c:f>
              <c:numCache>
                <c:formatCode>#,##0;(#,##0)</c:formatCode>
                <c:ptCount val="7"/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453B"/>
            </a:solidFill>
          </c:spPr>
          <c:dLbls>
            <c:numFmt formatCode="&quot;-&quot;#,##0" sourceLinked="0"/>
            <c:txPr>
              <a:bodyPr/>
              <a:lstStyle/>
              <a:p>
                <a:pPr>
                  <a:defRPr sz="850" b="1">
                    <a:solidFill>
                      <a:srgbClr val="C0453B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Reported PAT</c:v>
                </c:pt>
                <c:pt idx="1">
                  <c:v>IAS-41 bio-asset FV</c:v>
                </c:pt>
                <c:pt idx="2">
                  <c:v>BRF one-off dividend</c:v>
                </c:pt>
                <c:pt idx="3">
                  <c:v>FVTPL mark-to-market</c:v>
                </c:pt>
                <c:pt idx="4">
                  <c:v>Acquisition / bargain gain</c:v>
                </c:pt>
                <c:pt idx="5">
                  <c:v>FX &amp; other one-offs</c:v>
                </c:pt>
                <c:pt idx="6">
                  <c:v>Recurring engine</c:v>
                </c:pt>
              </c:strCache>
            </c:strRef>
          </c:cat>
          <c:val>
            <c:numRef>
              <c:f>Sheet1!$E$2:$E$8</c:f>
              <c:numCache>
                <c:formatCode>#,##0;(#,##0)</c:formatCode>
                <c:ptCount val="7"/>
                <c:pt idx="1">
                  <c:v>280.0</c:v>
                </c:pt>
                <c:pt idx="2">
                  <c:v>195.0</c:v>
                </c:pt>
                <c:pt idx="3">
                  <c:v>62.0</c:v>
                </c:pt>
                <c:pt idx="4">
                  <c:v>185.0</c:v>
                </c:pt>
                <c:pt idx="5">
                  <c:v>210.0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8305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.0"/>
        </c:scaling>
        <c:delete val="0"/>
        <c:axPos val="l"/>
        <c:majorGridlines>
          <c:spPr>
            <a:ln w="6350">
              <a:solidFill>
                <a:srgbClr val="E3E3E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8305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 b="0">
          <a:solidFill>
            <a:srgbClr val="08305C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Group Financial Performance — 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Consolidated results, YTD Dec-2025 · Actual vs Budget vs Prior 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1 of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7.48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C0453B"/>
                </a:solidFill>
              </a:rPr>
              <a:t>▼−70.4%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25.27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072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▲+219.7%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2.34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8144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GROSS 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908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4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C0453B"/>
                </a:solidFill>
              </a:rPr>
              <a:t>▼−43.6%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8144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1.61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▲+39.7%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650 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7064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EBITDA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1.62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2A7C62"/>
                </a:solidFill>
              </a:rPr>
              <a:t>▲+8.7%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1.49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0376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▲+80.4%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0376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898 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53144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9448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NET INCOME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0304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1.25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8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2A7C62"/>
                </a:solidFill>
              </a:rPr>
              <a:t>▲+90.3%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657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06456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▲+121.6%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6456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564 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1868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" y="331927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WORKING CAPITAL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35021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1.74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" y="400507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C0453B"/>
                </a:solidFill>
              </a:rPr>
              <a:t>▼−86.3%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" y="418795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12.68 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19072" y="400507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▲+130.3%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19072" y="418795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756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0" y="321868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38144" y="331927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NET DEBT TO EBITDA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35021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2x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27064" y="321868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73368" y="331927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ROIC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64224" y="35021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32735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05C"/>
                </a:solidFill>
              </a:rPr>
              <a:t>The story in one 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5661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08305C"/>
                </a:solidFill>
              </a:rPr>
              <a:t>Revenue ahead of PY.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08305C"/>
                </a:solidFill>
              </a:rPr>
              <a:t>EBITDA above budget.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08305C"/>
                </a:solidFill>
              </a:rPr>
              <a:t>Net income strong.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60" y="3273552"/>
            <a:ext cx="5285232" cy="3054096"/>
          </a:xfrm>
          <a:prstGeom prst="rect">
            <a:avLst/>
          </a:prstGeom>
          <a:solidFill>
            <a:srgbClr val="F2F6FA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57416" y="34198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05C"/>
                </a:solidFill>
              </a:rPr>
              <a:t>Quality of earnings — reported vs recurring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5160" y="3986784"/>
            <a:ext cx="1874519" cy="1078992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95160" y="4114800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Reported PAT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5160" y="438912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1.25 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91472" y="3986784"/>
            <a:ext cx="1874519" cy="1078992"/>
          </a:xfrm>
          <a:prstGeom prst="rect">
            <a:avLst/>
          </a:prstGeom>
          <a:solidFill>
            <a:srgbClr val="E6A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91472" y="4114800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305C"/>
                </a:solidFill>
              </a:rPr>
              <a:t>Recurring engine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91472" y="438912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305C"/>
                </a:solidFill>
              </a:rPr>
              <a:t>318 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0536" y="424281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57416" y="526694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8305C"/>
                </a:solidFill>
              </a:rPr>
              <a:t>Less non-recurring / non-cash:  IAS-41 bio-asset fair value gain ~280 m · BRF one-time dividend income ~195 m · FVTPL mark-to-market ~62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Earnings Quality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Budget-to-actual drivers for the focus topic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2 of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556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05C"/>
                </a:solidFill>
              </a:rPr>
              <a:t>Net income: reported → recurring  (SAR m)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5760" y="2057400"/>
          <a:ext cx="11457432" cy="4114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Recurring engine ~SAR 318m vs reported SAR 1,250m.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Key Drivers, Risks &amp; Matters for the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2 wins, 2 watch-points, and matters for the 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3 of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5550408" cy="2395728"/>
          </a:xfrm>
          <a:prstGeom prst="rect">
            <a:avLst/>
          </a:prstGeom>
          <a:solidFill>
            <a:srgbClr val="E4F2E6"/>
          </a:solidFill>
          <a:ln w="9525">
            <a:solidFill>
              <a:srgbClr val="2A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200" b="1">
                <a:solidFill>
                  <a:srgbClr val="2A7C62"/>
                </a:solidFill>
              </a:rPr>
              <a:t>▲  Wins</a:t>
            </a:r>
          </a:p>
          <a:p>
            <a:pPr algn="ctr"/>
            <a:r>
              <a:rPr sz="900" b="1">
                <a:solidFill>
                  <a:srgbClr val="2A7C62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EBITDA beat budget.</a:t>
            </a:r>
          </a:p>
          <a:p>
            <a:pPr algn="ctr"/>
            <a:r>
              <a:rPr sz="900" b="1">
                <a:solidFill>
                  <a:srgbClr val="2A7C62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Strong associate dividends.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1928" y="1783080"/>
            <a:ext cx="5550408" cy="2395728"/>
          </a:xfrm>
          <a:prstGeom prst="rect">
            <a:avLst/>
          </a:prstGeom>
          <a:solidFill>
            <a:srgbClr val="FBEDEC"/>
          </a:solidFill>
          <a:ln w="9525">
            <a:solidFill>
              <a:srgbClr val="C0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200" b="1">
                <a:solidFill>
                  <a:srgbClr val="C0453B"/>
                </a:solidFill>
              </a:rPr>
              <a:t>▼  Watch-points</a:t>
            </a:r>
          </a:p>
          <a:p>
            <a:pPr algn="ctr"/>
            <a:r>
              <a:rPr sz="900" b="1">
                <a:solidFill>
                  <a:srgbClr val="C0453B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Revenue below budget.</a:t>
            </a:r>
          </a:p>
          <a:p>
            <a:pPr algn="ctr"/>
            <a:r>
              <a:rPr sz="900" b="1">
                <a:solidFill>
                  <a:srgbClr val="C0453B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Leverage elevated.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315968"/>
            <a:ext cx="11457432" cy="658368"/>
          </a:xfrm>
          <a:prstGeom prst="rect">
            <a:avLst/>
          </a:prstGeom>
          <a:solidFill>
            <a:srgbClr val="F2F6FA"/>
          </a:solidFill>
          <a:ln w="15875">
            <a:solidFill>
              <a:srgbClr val="C0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36168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305C"/>
                </a:solidFill>
              </a:rPr>
              <a:t>Escalation — Working capital SAR 1.74bn is 86.3% below budget — liquidity and funding plans need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749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8305C"/>
                </a:solidFill>
              </a:rPr>
              <a:t>Matters for the Board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5349240"/>
          <a:ext cx="11457432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080"/>
                <a:gridCol w="4124676"/>
                <a:gridCol w="4124676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Earnings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Disclose recurring PAT bridge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CFO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2026-07-12T17:41:04Z</dcterms:created>
  <dcterms:modified xsi:type="dcterms:W3CDTF">2026-07-12T17:41:04Z</dcterms:modified>
</cp:coreProperties>
</file>