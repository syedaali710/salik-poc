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Sheet1!$B$2:$B$5</c:f>
              <c:numCache>
                <c:formatCode>#,##0;(#,##0)</c:formatCode>
                <c:ptCount val="4"/>
                <c:pt idx="0">
                  <c:v>0.0</c:v>
                </c:pt>
                <c:pt idx="1">
                  <c:v>1490.0</c:v>
                </c:pt>
                <c:pt idx="2">
                  <c:v>1610.0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Sheet1!$C$2:$C$5</c:f>
              <c:numCache>
                <c:formatCode>#,##0;(#,##0)</c:formatCode>
                <c:ptCount val="4"/>
                <c:pt idx="0">
                  <c:v>1490.0</c:v>
                </c:pt>
                <c:pt idx="3">
                  <c:v>1620.0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Sheet1!$D$2:$D$5</c:f>
              <c:numCache>
                <c:formatCode>#,##0;(#,##0)</c:formatCode>
                <c:ptCount val="4"/>
                <c:pt idx="1">
                  <c:v>120.0</c:v>
                </c:pt>
                <c:pt idx="2">
                  <c:v>10.0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Local</c:v>
                </c:pt>
                <c:pt idx="2">
                  <c:v>International</c:v>
                </c:pt>
                <c:pt idx="3">
                  <c:v>Actual</c:v>
                </c:pt>
              </c:strCache>
            </c:strRef>
          </c:cat>
          <c:val>
            <c:numRef>
              <c:f>Sheet1!$E$2:$E$5</c:f>
              <c:numCache>
                <c:formatCode>#,##0;(#,##0)</c:formatCode>
                <c:ptCount val="4"/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Sheet1!$B$2:$B$6</c:f>
              <c:numCache>
                <c:formatCode>#,##0;(#,##0)</c:formatCode>
                <c:ptCount val="5"/>
                <c:pt idx="0">
                  <c:v>0.0</c:v>
                </c:pt>
                <c:pt idx="1">
                  <c:v>657.0</c:v>
                </c:pt>
                <c:pt idx="2">
                  <c:v>991.0</c:v>
                </c:pt>
                <c:pt idx="3">
                  <c:v>1237.0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Sheet1!$C$2:$C$6</c:f>
              <c:numCache>
                <c:formatCode>#,##0;(#,##0)</c:formatCode>
                <c:ptCount val="5"/>
                <c:pt idx="0">
                  <c:v>657.0</c:v>
                </c:pt>
                <c:pt idx="4">
                  <c:v>1250.0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Sheet1!$D$2:$D$6</c:f>
              <c:numCache>
                <c:formatCode>#,##0;(#,##0)</c:formatCode>
                <c:ptCount val="5"/>
                <c:pt idx="1">
                  <c:v>334.0</c:v>
                </c:pt>
                <c:pt idx="2">
                  <c:v>246.0</c:v>
                </c:pt>
                <c:pt idx="3">
                  <c:v>198.0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Sheet1!$E$2:$E$6</c:f>
              <c:numCache>
                <c:formatCode>#,##0;(#,##0)</c:formatCode>
                <c:ptCount val="5"/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Group Financial Performance —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Consolidated results, YTD Dec-2025 · Actual vs Budget vs Prior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1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7.48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▼−70.4%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25.27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▲+219.7%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2.34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908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▼−43.6%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1.61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650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1.62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1.49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▲+80.4%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898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1.25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▲+90.3%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657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▲+121.6%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564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WORKING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1.74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▼−86.3%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12.68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19072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▲+130.3%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756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DEBT TO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ROIC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05C"/>
                </a:solidFill>
              </a:rPr>
              <a:t>The story in one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Revenue ahead of PY.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EBITDA above budget.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Net income strong.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273552"/>
            <a:ext cx="5285232" cy="3054096"/>
          </a:xfrm>
          <a:prstGeom prst="rect">
            <a:avLst/>
          </a:prstGeom>
          <a:solidFill>
            <a:srgbClr val="F2F6FA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05C"/>
                </a:solidFill>
              </a:rPr>
              <a:t>Quality of earnings — reported vs recurring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986784"/>
            <a:ext cx="1874519" cy="1078992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Reported PAT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1.25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91472" y="3986784"/>
            <a:ext cx="1874519" cy="1078992"/>
          </a:xfrm>
          <a:prstGeom prst="rect">
            <a:avLst/>
          </a:prstGeom>
          <a:solidFill>
            <a:srgbClr val="E6A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91472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305C"/>
                </a:solidFill>
              </a:rPr>
              <a:t>Recurring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305C"/>
                </a:solidFill>
              </a:rPr>
              <a:t>318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0536" y="424281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57416" y="52669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8305C"/>
                </a:solidFill>
              </a:rPr>
              <a:t>Less non-recurring / non-cash:  IAS-41 bio-asset fair value gain ~280 m · BRF one-time dividend income ~195 m · FVTPL mark-to-market ~62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Consolidated Income Statement &amp; Variance Bridges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How the group moved from budget to reported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2 of 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783080"/>
          <a:ext cx="5806438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803"/>
                <a:gridCol w="836127"/>
                <a:gridCol w="836127"/>
                <a:gridCol w="836127"/>
                <a:gridCol w="836127"/>
                <a:gridCol w="836127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PY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vs B%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vs PY%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7,480m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25,270m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2,340m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C0453B"/>
                          </a:solidFill>
                        </a:defRPr>
                      </a:pPr>
                      <a:r>
                        <a:t>-70%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2A7C62"/>
                          </a:solidFill>
                        </a:defRPr>
                      </a:pPr>
                      <a:r>
                        <a:t>+219%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1783080"/>
            <a:ext cx="5422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EBITDA by Geography  (SAR m)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0" y="2057400"/>
          <a:ext cx="5422392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5266944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International drove the variance.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Variance Bridges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Additional budget-to-actual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3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Net Income by Portfolio Company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057400"/>
          <a:ext cx="11457432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Key Drivers, Risks &amp;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2 wins, 2 watch-points, and matters for the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4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50408" cy="2395728"/>
          </a:xfrm>
          <a:prstGeom prst="rect">
            <a:avLst/>
          </a:prstGeom>
          <a:solidFill>
            <a:srgbClr val="E4F2E6"/>
          </a:solidFill>
          <a:ln w="9525">
            <a:solidFill>
              <a:srgbClr val="2A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2A7C62"/>
                </a:solidFill>
              </a:rPr>
              <a:t>▲  Wins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EBITDA beat budget.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Strong associate dividends.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783080"/>
            <a:ext cx="5550408" cy="2395728"/>
          </a:xfrm>
          <a:prstGeom prst="rect">
            <a:avLst/>
          </a:prstGeom>
          <a:solidFill>
            <a:srgbClr val="FBEDEC"/>
          </a:solidFill>
          <a:ln w="952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C0453B"/>
                </a:solidFill>
              </a:rPr>
              <a:t>▼  Watch-points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Revenue below budget.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Leverage elevated.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15968"/>
            <a:ext cx="11457432" cy="658368"/>
          </a:xfrm>
          <a:prstGeom prst="rect">
            <a:avLst/>
          </a:prstGeom>
          <a:solidFill>
            <a:srgbClr val="F2F6FA"/>
          </a:solidFill>
          <a:ln w="1587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6168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305C"/>
                </a:solidFill>
              </a:rPr>
              <a:t>Escalation — Working capital SAR 1.74bn is 86.3% below budget — liquidity and funding plans need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Matters for the Board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5743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80"/>
                <a:gridCol w="4124676"/>
                <a:gridCol w="4124676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Earnings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Disclose recurring PAT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