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Actual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  <c:pt idx="3">
                  <c:v>Q4 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1720.0</c:v>
                </c:pt>
                <c:pt idx="1">
                  <c:v>1880.0</c:v>
                </c:pt>
                <c:pt idx="2">
                  <c:v>1840.0</c:v>
                </c:pt>
                <c:pt idx="3">
                  <c:v>2040.0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Budget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  <c:pt idx="3">
                  <c:v>Q4 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5800.0</c:v>
                </c:pt>
                <c:pt idx="1">
                  <c:v>6400.0</c:v>
                </c:pt>
                <c:pt idx="2">
                  <c:v>6550.0</c:v>
                </c:pt>
                <c:pt idx="3">
                  <c:v>6470.0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800" b="0">
          <a:solidFill>
            <a:srgbClr val="08305C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Group Financial Performance — 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Consolidated results, YTD Dec-2025 · Actual vs Budget vs Prior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1 of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7.48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▼−70.4%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25.27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▲+219.7%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2.34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8144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GROSS 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908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▼−43.6%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1.61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▲+39.7%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650 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7064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EBITDA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1.62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2A7C62"/>
                </a:solidFill>
              </a:rPr>
              <a:t>▲+8.7%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1.49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0376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▲+80.4%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0376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898 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53144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9448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NET INCOME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1.25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8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2A7C62"/>
                </a:solidFill>
              </a:rPr>
              <a:t>▲+90.3%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657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06456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▲+121.6%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6456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564 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WORKING CAPITAL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1.74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" y="400507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▼−86.3%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" y="418795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12.68 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19072" y="400507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▲+130.3%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19072" y="418795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756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38144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NET DEBT TO EBITDA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2x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27064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3368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ROIC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64224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32735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05C"/>
                </a:solidFill>
              </a:rPr>
              <a:t>The story in one 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566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Revenue ahead of PY.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EBITDA above budget.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Net income strong.</a:t>
            </a:r>
          </a:p>
        </p:txBody>
      </p:sp>
      <p:graphicFrame>
        <p:nvGraphicFramePr>
          <p:cNvPr id="55" name="Chart 54"/>
          <p:cNvGraphicFramePr>
            <a:graphicFrameLocks noGrp="1"/>
          </p:cNvGraphicFramePr>
          <p:nvPr/>
        </p:nvGraphicFramePr>
        <p:xfrm>
          <a:off x="6537960" y="3273552"/>
          <a:ext cx="5285232" cy="2926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6537960" y="301752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05C"/>
                </a:solidFill>
              </a:rPr>
              <a:t>Quarterly trend — Revenue  (SAR 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Consolidated Income Statement &amp; Variance Bridges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How the group moved from budget to reported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2 of 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783080"/>
          <a:ext cx="5806438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803"/>
                <a:gridCol w="836127"/>
                <a:gridCol w="836127"/>
                <a:gridCol w="836127"/>
                <a:gridCol w="836127"/>
                <a:gridCol w="836127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PY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vs B%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vs PY%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7,480m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25,270m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2,340m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C0453B"/>
                          </a:solidFill>
                        </a:defRPr>
                      </a:pPr>
                      <a:r>
                        <a:t>-70%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2A7C62"/>
                          </a:solidFill>
                        </a:defRPr>
                      </a:pPr>
                      <a:r>
                        <a:t>+219%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Key Drivers, Risks &amp; Matters for the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2 wins, 2 watch-points, and matters for the 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3 of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5550408" cy="2395728"/>
          </a:xfrm>
          <a:prstGeom prst="rect">
            <a:avLst/>
          </a:prstGeom>
          <a:solidFill>
            <a:srgbClr val="E4F2E6"/>
          </a:solidFill>
          <a:ln w="9525">
            <a:solidFill>
              <a:srgbClr val="2A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200" b="1">
                <a:solidFill>
                  <a:srgbClr val="2A7C62"/>
                </a:solidFill>
              </a:rPr>
              <a:t>▲  Wins</a:t>
            </a:r>
          </a:p>
          <a:p>
            <a:pPr algn="ctr"/>
            <a:r>
              <a:rPr sz="900" b="1">
                <a:solidFill>
                  <a:srgbClr val="2A7C62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EBITDA beat budget.</a:t>
            </a:r>
          </a:p>
          <a:p>
            <a:pPr algn="ctr"/>
            <a:r>
              <a:rPr sz="900" b="1">
                <a:solidFill>
                  <a:srgbClr val="2A7C62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Strong associate dividends.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8" y="1783080"/>
            <a:ext cx="5550408" cy="2395728"/>
          </a:xfrm>
          <a:prstGeom prst="rect">
            <a:avLst/>
          </a:prstGeom>
          <a:solidFill>
            <a:srgbClr val="FBEDEC"/>
          </a:solidFill>
          <a:ln w="9525">
            <a:solidFill>
              <a:srgbClr val="C0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200" b="1">
                <a:solidFill>
                  <a:srgbClr val="C0453B"/>
                </a:solidFill>
              </a:rPr>
              <a:t>▼  Watch-points</a:t>
            </a:r>
          </a:p>
          <a:p>
            <a:pPr algn="ctr"/>
            <a:r>
              <a:rPr sz="900" b="1">
                <a:solidFill>
                  <a:srgbClr val="C0453B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Revenue below budget.</a:t>
            </a:r>
          </a:p>
          <a:p>
            <a:pPr algn="ctr"/>
            <a:r>
              <a:rPr sz="900" b="1">
                <a:solidFill>
                  <a:srgbClr val="C0453B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Leverage elevated.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15968"/>
            <a:ext cx="11457432" cy="658368"/>
          </a:xfrm>
          <a:prstGeom prst="rect">
            <a:avLst/>
          </a:prstGeom>
          <a:solidFill>
            <a:srgbClr val="F2F6FA"/>
          </a:solidFill>
          <a:ln w="15875">
            <a:solidFill>
              <a:srgbClr val="C0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6168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305C"/>
                </a:solidFill>
              </a:rPr>
              <a:t>Escalation — Working capital SAR 1.74bn is 86.3% below budget — liquidity and funding plans need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749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8305C"/>
                </a:solidFill>
              </a:rPr>
              <a:t>Matters for the Board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5349240"/>
          <a:ext cx="11457432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080"/>
                <a:gridCol w="4124676"/>
                <a:gridCol w="4124676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Earnings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Disclose recurring PAT bridge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CFO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2026-07-12T17:41:04Z</dcterms:created>
  <dcterms:modified xsi:type="dcterms:W3CDTF">2026-07-12T17:41:04Z</dcterms:modified>
</cp:coreProperties>
</file>