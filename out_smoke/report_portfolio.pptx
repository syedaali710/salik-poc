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Income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Olam Agri</c:v>
                </c:pt>
                <c:pt idx="1">
                  <c:v>NADEC</c:v>
                </c:pt>
                <c:pt idx="2">
                  <c:v>G3GH</c:v>
                </c:pt>
                <c:pt idx="3">
                  <c:v>SALIC Ukraine</c:v>
                </c:pt>
                <c:pt idx="4">
                  <c:v>Minerva</c:v>
                </c:pt>
                <c:pt idx="5">
                  <c:v>SABIL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334.0</c:v>
                </c:pt>
                <c:pt idx="1">
                  <c:v>246.0</c:v>
                </c:pt>
                <c:pt idx="2">
                  <c:v>198.0</c:v>
                </c:pt>
                <c:pt idx="3">
                  <c:v>142.0</c:v>
                </c:pt>
                <c:pt idx="4">
                  <c:v>132.0</c:v>
                </c:pt>
                <c:pt idx="5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 b="0">
          <a:solidFill>
            <a:srgbClr val="08305C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Sheet1!$B$2:$B$6</c:f>
              <c:numCache>
                <c:formatCode>#,##0;(#,##0)</c:formatCode>
                <c:ptCount val="5"/>
                <c:pt idx="0">
                  <c:v>0.0</c:v>
                </c:pt>
                <c:pt idx="1">
                  <c:v>657.0</c:v>
                </c:pt>
                <c:pt idx="2">
                  <c:v>991.0</c:v>
                </c:pt>
                <c:pt idx="3">
                  <c:v>1237.0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4D8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Sheet1!$C$2:$C$6</c:f>
              <c:numCache>
                <c:formatCode>#,##0;(#,##0)</c:formatCode>
                <c:ptCount val="5"/>
                <c:pt idx="0">
                  <c:v>657.0</c:v>
                </c:pt>
                <c:pt idx="4">
                  <c:v>1250.0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A7C62"/>
            </a:solidFill>
          </c:spPr>
          <c:dLbls>
            <c:numFmt formatCode="&quot;+&quot;#,##0" sourceLinked="0"/>
            <c:txPr>
              <a:bodyPr/>
              <a:lstStyle/>
              <a:p>
                <a:pPr>
                  <a:defRPr sz="850" b="1">
                    <a:solidFill>
                      <a:srgbClr val="2A7C62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Sheet1!$D$2:$D$6</c:f>
              <c:numCache>
                <c:formatCode>#,##0;(#,##0)</c:formatCode>
                <c:ptCount val="5"/>
                <c:pt idx="1">
                  <c:v>334.0</c:v>
                </c:pt>
                <c:pt idx="2">
                  <c:v>246.0</c:v>
                </c:pt>
                <c:pt idx="3">
                  <c:v>198.0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453B"/>
            </a:solidFill>
          </c:spPr>
          <c:dLbls>
            <c:numFmt formatCode="&quot;-&quot;#,##0" sourceLinked="0"/>
            <c:txPr>
              <a:bodyPr/>
              <a:lstStyle/>
              <a:p>
                <a:pPr>
                  <a:defRPr sz="850" b="1">
                    <a:solidFill>
                      <a:srgbClr val="C0453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Budget</c:v>
                </c:pt>
                <c:pt idx="1">
                  <c:v>Olam</c:v>
                </c:pt>
                <c:pt idx="2">
                  <c:v>NADEC</c:v>
                </c:pt>
                <c:pt idx="3">
                  <c:v>G3GH</c:v>
                </c:pt>
                <c:pt idx="4">
                  <c:v>Actual</c:v>
                </c:pt>
              </c:strCache>
            </c:strRef>
          </c:cat>
          <c:val>
            <c:numRef>
              <c:f>Sheet1!$E$2:$E$6</c:f>
              <c:numCache>
                <c:formatCode>#,##0;(#,##0)</c:formatCode>
                <c:ptCount val="5"/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"/>
        </c:scaling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8305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 b="0">
          <a:solidFill>
            <a:srgbClr val="08305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Group Financial Performance —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Consolidated results, YTD Dec-2025 · Actual vs Budget vs Prior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1 of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7.48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▼−70.4%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25.27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▲+219.7%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2.34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908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▼−43.6%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1.61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▲+39.7%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650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706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1.62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1.49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▲+80.4%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37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898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53144" y="175564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185623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203911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1.25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2A7C62"/>
                </a:solidFill>
              </a:rPr>
              <a:t>▲+90.3%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657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6456" y="254203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▲+121.6%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6456" y="272491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564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WORKING CAPITAL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1.74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Budget  </a:t>
            </a:r>
            <a:r>
              <a:rPr sz="850" b="1">
                <a:solidFill>
                  <a:srgbClr val="C0453B"/>
                </a:solidFill>
              </a:rPr>
              <a:t>▼−86.3%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Budget 12.68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19072" y="4005072"/>
            <a:ext cx="12435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6B6B"/>
                </a:solidFill>
              </a:rPr>
              <a:t>vs PY  </a:t>
            </a:r>
            <a:r>
              <a:rPr sz="850" b="1">
                <a:solidFill>
                  <a:srgbClr val="2A7C62"/>
                </a:solidFill>
              </a:rPr>
              <a:t>▲+130.3%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4187952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PY 756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8144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NET DEBT TO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2x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27064" y="3218688"/>
            <a:ext cx="267004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319272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ROIC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35021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8305C"/>
                </a:solidFill>
              </a:rPr>
              <a:t>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32735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05C"/>
                </a:solidFill>
              </a:rPr>
              <a:t>The story in one 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566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Revenue ahead of PY.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EBITDA above budget.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08305C"/>
                </a:solidFill>
              </a:rPr>
              <a:t>Net income strong.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3273552"/>
            <a:ext cx="5285232" cy="3054096"/>
          </a:xfrm>
          <a:prstGeom prst="rect">
            <a:avLst/>
          </a:prstGeom>
          <a:solidFill>
            <a:srgbClr val="F2F6FA"/>
          </a:solidFill>
          <a:ln w="9525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57416" y="3419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05C"/>
                </a:solidFill>
              </a:rPr>
              <a:t>Key insight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7416" y="3749039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8305C"/>
                </a:solidFill>
              </a:rPr>
              <a:t>Headline KPIs show mixed budget variance.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Portfolio Company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Where the result comes from — consolidation 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2 of 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783080"/>
          <a:ext cx="653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628"/>
                <a:gridCol w="1176833"/>
                <a:gridCol w="1176833"/>
                <a:gridCol w="1176833"/>
                <a:gridCol w="1176833"/>
              </a:tblGrid>
              <a:tr h="315883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Olam Agri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Associate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2,180m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(980)m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334m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G3GH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Subsidiary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4,120m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520m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198m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SALIC Ukraine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Subsidiary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890m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208m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142m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SABIL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Subsidiary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620m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195m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95m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Minerva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Associate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540m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118m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132m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UFIC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Subsidiary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310m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42m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18m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SALIC Australia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Subsidiary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280m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35m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NADEC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Associate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1,950m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285m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SAR 246m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Financial Assets (group)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Financial Assets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SAR 257m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</a:tr>
              <a:tr h="31589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Group &amp; eliminations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Holdings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SAR (2,880)m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SAR (92)m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8305C"/>
                          </a:solidFill>
                        </a:defRPr>
                      </a:pPr>
                      <a:r>
                        <a:t>SAR 1.7m</a:t>
                      </a:r>
                    </a:p>
                  </a:txBody>
                  <a:tcPr>
                    <a:solidFill>
                      <a:srgbClr val="E9F0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086600" y="2029968"/>
          <a:ext cx="4736592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086600" y="1737360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05C"/>
                </a:solidFill>
              </a:rPr>
              <a:t>Net income contribution  (SAR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Revenue SAR 7.48bn is 70.4% below budget — almost entirely Olam Agri and International/Grains.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Net Income — Portfolio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Budget-to-actual drivers for the focus 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3 of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556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05C"/>
                </a:solidFill>
              </a:rPr>
              <a:t>Net Income by Portfolio Company  (SAR m)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057400"/>
          <a:ext cx="11457432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Olam and NADEC lead contributors.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rd_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"/>
            <a:ext cx="1014984" cy="393192"/>
          </a:xfrm>
          <a:prstGeom prst="rect">
            <a:avLst/>
          </a:prstGeom>
        </p:spPr>
      </p:pic>
      <p:pic>
        <p:nvPicPr>
          <p:cNvPr id="4" name="Picture 3" descr="board_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56032"/>
            <a:ext cx="95097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3048" y="274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SALIC GROUP  · 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8305C"/>
                </a:solidFill>
              </a:rPr>
              <a:t>Key Drivers, Risks &amp; Matters for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305C"/>
                </a:solidFill>
              </a:rPr>
              <a:t>2 wins, 2 watch-points, and matters for the 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28816"/>
            <a:ext cx="11457432" cy="6350"/>
          </a:xfrm>
          <a:prstGeom prst="rect">
            <a:avLst/>
          </a:prstGeom>
          <a:noFill/>
          <a:ln w="6350">
            <a:solidFill>
              <a:srgbClr val="E3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</a:rPr>
              <a:t>SALIC Group — Board Financial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65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</a:rPr>
              <a:t>YTD Dec-2025  ·  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4392" y="6565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</a:rPr>
              <a:t>Page 4 of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550408" cy="2395728"/>
          </a:xfrm>
          <a:prstGeom prst="rect">
            <a:avLst/>
          </a:prstGeom>
          <a:solidFill>
            <a:srgbClr val="E4F2E6"/>
          </a:solidFill>
          <a:ln w="9525">
            <a:solidFill>
              <a:srgbClr val="2A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2A7C62"/>
                </a:solidFill>
              </a:rPr>
              <a:t>▲  Wins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EBITDA beat budget.</a:t>
            </a:r>
          </a:p>
          <a:p>
            <a:pPr algn="ctr"/>
            <a:r>
              <a:rPr sz="900" b="1">
                <a:solidFill>
                  <a:srgbClr val="2A7C62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Strong associate dividends.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783080"/>
            <a:ext cx="5550408" cy="2395728"/>
          </a:xfrm>
          <a:prstGeom prst="rect">
            <a:avLst/>
          </a:prstGeom>
          <a:solidFill>
            <a:srgbClr val="FBEDEC"/>
          </a:solidFill>
          <a:ln w="952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200" b="1">
                <a:solidFill>
                  <a:srgbClr val="C0453B"/>
                </a:solidFill>
              </a:rPr>
              <a:t>▼  Watch-points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Revenue below budget.</a:t>
            </a:r>
          </a:p>
          <a:p>
            <a:pPr algn="ctr"/>
            <a:r>
              <a:rPr sz="900" b="1">
                <a:solidFill>
                  <a:srgbClr val="C0453B"/>
                </a:solidFill>
              </a:rPr>
              <a:t>•  </a:t>
            </a:r>
            <a:r>
              <a:rPr sz="900">
                <a:solidFill>
                  <a:srgbClr val="08305C"/>
                </a:solidFill>
              </a:rPr>
              <a:t>Leverage elevated.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15968"/>
            <a:ext cx="11457432" cy="658368"/>
          </a:xfrm>
          <a:prstGeom prst="rect">
            <a:avLst/>
          </a:prstGeom>
          <a:solidFill>
            <a:srgbClr val="F2F6FA"/>
          </a:solidFill>
          <a:ln w="15875">
            <a:solidFill>
              <a:srgbClr val="C0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61688"/>
            <a:ext cx="110550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305C"/>
                </a:solidFill>
              </a:rPr>
              <a:t>Escalation — Working capital SAR 1.74bn is 86.3% below budget — liquidity and funding plans need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8305C"/>
                </a:solidFill>
              </a:rPr>
              <a:t>Matters for the Board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49240"/>
          <a:ext cx="11457432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80"/>
                <a:gridCol w="4124676"/>
                <a:gridCol w="4124676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B4D8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Earnings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Disclose recurring PAT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8305C"/>
                          </a:solidFill>
                        </a:defRPr>
                      </a:pPr>
                      <a: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2026-07-12T17:41:04Z</dcterms:created>
  <dcterms:modified xsi:type="dcterms:W3CDTF">2026-07-12T17:41:04Z</dcterms:modified>
</cp:coreProperties>
</file>